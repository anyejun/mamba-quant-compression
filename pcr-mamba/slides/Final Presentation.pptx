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4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8181B"/>
                    </a:solidFill>
                    <a:latin typeface="Arial"/>
                  </a:defRPr>
                </a:pPr>
                <a:endParaRPr lang="ko-Kore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16</c:v>
                </c:pt>
                <c:pt idx="1">
                  <c:v>24</c:v>
                </c:pt>
                <c:pt idx="2">
                  <c:v>32</c:v>
                </c:pt>
                <c:pt idx="3">
                  <c:v>48</c:v>
                </c:pt>
                <c:pt idx="4">
                  <c:v>64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0.77</c:v>
                </c:pt>
                <c:pt idx="1">
                  <c:v>0.63</c:v>
                </c:pt>
                <c:pt idx="2">
                  <c:v>0.53</c:v>
                </c:pt>
                <c:pt idx="3">
                  <c:v>0.43</c:v>
                </c:pt>
                <c:pt idx="4">
                  <c:v>0.33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CFC-5A43-985E-D7BC28686D2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171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4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171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8181B"/>
                    </a:solidFill>
                    <a:latin typeface="Arial"/>
                  </a:defRPr>
                </a:pPr>
                <a:endParaRPr lang="ko-Kore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1.0</c:v>
                </c:pt>
                <c:pt idx="1">
                  <c:v>0.9</c:v>
                </c:pt>
                <c:pt idx="2">
                  <c:v>0.8</c:v>
                </c:pt>
                <c:pt idx="3">
                  <c:v>0.7</c:v>
                </c:pt>
                <c:pt idx="4">
                  <c:v>0.6</c:v>
                </c:pt>
                <c:pt idx="5">
                  <c:v>0.4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0.53</c:v>
                </c:pt>
                <c:pt idx="1">
                  <c:v>0.6</c:v>
                </c:pt>
                <c:pt idx="2">
                  <c:v>0.73</c:v>
                </c:pt>
                <c:pt idx="3">
                  <c:v>0.6</c:v>
                </c:pt>
                <c:pt idx="4">
                  <c:v>0.3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CB-7B4E-B30E-8FB3ABF922A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71717A"/>
                    </a:solidFill>
                    <a:latin typeface="Arial"/>
                  </a:defRPr>
                </a:pPr>
                <a:r>
                  <a:rPr lang="en" sz="900" b="0" i="0" u="none" strike="noStrike">
                    <a:solidFill>
                      <a:srgbClr val="71717A"/>
                    </a:solidFill>
                    <a:latin typeface="Arial"/>
                  </a:rPr>
                  <a:t>other-gain (og)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171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4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171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Δrecall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8181B"/>
                    </a:solidFill>
                    <a:latin typeface="Arial"/>
                  </a:defRPr>
                </a:pPr>
                <a:endParaRPr lang="ko-Kore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L0-7</c:v>
                </c:pt>
                <c:pt idx="1">
                  <c:v>L8-15</c:v>
                </c:pt>
                <c:pt idx="2">
                  <c:v>L16-23</c:v>
                </c:pt>
                <c:pt idx="3">
                  <c:v>L24-31</c:v>
                </c:pt>
                <c:pt idx="4">
                  <c:v>L32-39</c:v>
                </c:pt>
                <c:pt idx="5">
                  <c:v>L40-47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0.13</c:v>
                </c:pt>
                <c:pt idx="3">
                  <c:v>7.0000000000000007E-2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D2-1A44-9757-78A1ECB65D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171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5"/>
          <c:min val="0"/>
        </c:scaling>
        <c:delete val="0"/>
        <c:axPos val="l"/>
        <c:majorGridlines>
          <c:spPr>
            <a:ln w="6350" cap="flat">
              <a:solidFill>
                <a:srgbClr val="E4E4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171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929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한 줄: 사전학습 Mamba는 무엇을 잊을지 통제 못 하는 게 문제다. 우리는 재학습 없이 그 통제 회로를 찾아 깨운다. 10분 발표(질의 3분 포함).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Jelassi(2024) 용량 한계 증명이 있지만, 그게 곧 '실패=저장부족'은 아니다. 우리는 recall 실패의 상당 부분이 control 문제임을 보인다. 이게 연구의 출발점.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대조가 스토리의 엔진이다. Transformer는 슬롯이 있어 비트 배분이 되지만, Mamba는 슬롯이 없어 그 기법이 직접 이식 안 된다. 여기서 우리 질문이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문장이 논문의 학술적 깊이를 만든다. 이산↔연속을 하나의 원리 r_i=f(importance)로 보는 렌즈. 단, 우린 '증명'이 아니라 '렌즈+경계'로 정직하게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4번이 핵심 경쟁군(무엇을 기억하나). 걔넨 학습·재설계로 푼다. 우리 차별점: frozen 사전학습 회로를 깨운다 = training-free 카테고리. 3번 Just Read Twice가 직접 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합성으로 메커니즘을 깨끗이 통제, 그 뒤 RULER/needle로 실태스크 전이를 노린다. N*=32가 압박-헤드룸 균형점.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①은 이미 결과 있음(oracle). ②③이 제안의 신규 부분: oracle 제거 + 모델별 회로 자동 국소화. 이게 1.4b 비재현을 '기능'으로 전환한다.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inverted-U가 핵심: 약간 줄이면 보존↑, 너무 줄이면 통합이 멈춰 붕괴. random 대비 downstream 우위 = 일반적 'gain↑' 아티팩트가 아님을 증명.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발표의 심장. 국소 개입은 거의 공짜(ppl×1.07), 전역 개입은 비싸다(×1.81). = 전용 메모리 회로의 행동. 여기서 천천히, 숫자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정직한 negative가 리뷰 신뢰를 높인다. 특히 양자화 실패는 '슬롯 없음'의 직접 증거라 오히려 통합 축을 떠받친다.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게이트가 핵심: Stage0가 'control not storage'를 기각하면 워크샵 결과로 바로 마감. sprawl 방지. Stage1이 코어, Stage2가 main-track 야심.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마무리: 한 줄 테이크어웨이(제어 가능한 속성) + 다음 단계. 질의응답 3분.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PRIORITY-CONDITIONED RETENTION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ko-Kore-KR" altLang="ko-Kore-KR" sz="4000" b="1" dirty="0">
                <a:solidFill>
                  <a:schemeClr val="bg1"/>
                </a:solidFill>
              </a:rPr>
              <a:t>A Controllable Middle-Layer Memory Circuit in Pretrained Mamba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" y="3154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ore-KR" sz="1600" dirty="0">
                <a:solidFill>
                  <a:schemeClr val="bg1">
                    <a:lumMod val="50000"/>
                  </a:schemeClr>
                </a:solidFill>
              </a:rPr>
              <a:t>Pretrained</a:t>
            </a:r>
            <a:r>
              <a:rPr lang="ko-Kore-KR" altLang="ko-Kore-KR" sz="1600" dirty="0">
                <a:solidFill>
                  <a:schemeClr val="bg1">
                    <a:lumMod val="50000"/>
                  </a:schemeClr>
                </a:solidFill>
              </a:rPr>
              <a:t> Mamba 속 제어 가능한 중간층 기억 회로 — 재학습 없는 Δ-게이트 개입</a:t>
            </a:r>
            <a:endParaRPr lang="en-US" sz="1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3794760"/>
            <a:ext cx="20116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/>
          <p:nvPr/>
        </p:nvSpPr>
        <p:spPr>
          <a:xfrm>
            <a:off x="658368" y="3977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2026-1 AI </a:t>
            </a:r>
            <a:r>
              <a:rPr lang="en-US" sz="1200" dirty="0" err="1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</a:t>
            </a:r>
            <a:r>
              <a:rPr lang="ko-KR" alt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ko-KR" alt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ore-KR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정찬희</a:t>
            </a:r>
            <a:r>
              <a:rPr lang="en-US" altLang="ko-KR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</a:t>
            </a:r>
            <a:r>
              <a:rPr lang="en-US" altLang="ko-KR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altLang="ko-Kore-KR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안예준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김수윤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 · 연구 필요성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빠르지만</a:t>
            </a: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과거를 잘 잊는 </a:t>
            </a:r>
            <a:r>
              <a:rPr lang="en-US" altLang="ko-KR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</a:t>
            </a:r>
            <a:r>
              <a:rPr lang="en-US" sz="1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 지금까지 읽은 내용을 </a:t>
            </a: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크기가 고정된 메모리 하나(hidden state)</a:t>
            </a:r>
            <a:r>
              <a:rPr lang="en-US" sz="1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압축한다. 덕분에 길이에 비례하는 O(N) 속도로 빠르게 처리하지만, 그 대가로 </a:t>
            </a:r>
            <a:r>
              <a:rPr lang="en-US" sz="1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기억해서 다시 꺼내는 능력(recall)이 약하다</a:t>
            </a:r>
            <a:r>
              <a:rPr lang="en-US" sz="1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앞에서 본 특정 정보를 정확히 다시 못 꺼낸다.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통념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공간 부족. </a:t>
            </a:r>
            <a:r>
              <a:rPr lang="en-US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메모리에 저장할 공간 자체가 모자라서 생기는 한계다. 고치기 어렵다.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60604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ECFD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/>
          <p:nvPr/>
        </p:nvSpPr>
        <p:spPr>
          <a:xfrm>
            <a:off x="489204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우리의 반론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31546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제어의 문제. </a:t>
            </a:r>
            <a:r>
              <a:rPr lang="en-US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공간이 모자란 게 아니라, </a:t>
            </a: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남길지 못 고르는 것</a:t>
            </a:r>
            <a:r>
              <a:rPr lang="en-US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진짜 문제다. Mamba는 ‘중요한 것’이 아니라 그냥 ‘최근 것’만 남기기 때문이다. 이건 고칠 수 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 err="1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r>
              <a:rPr lang="ko-KR" alt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</a:t>
            </a:r>
            <a:r>
              <a:rPr lang="en-US" altLang="ko-KR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</a:t>
            </a: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Mamba</a:t>
            </a:r>
            <a:r>
              <a:rPr lang="ko-KR" alt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에는</a:t>
            </a: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불가능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2788920"/>
          </a:xfrm>
          <a:prstGeom prst="roundRect">
            <a:avLst>
              <a:gd name="adj" fmla="val 1967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(토큰마다 칸이 있음)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5"/>
          <p:cNvSpPr/>
          <p:nvPr/>
        </p:nvSpPr>
        <p:spPr>
          <a:xfrm>
            <a:off x="1051560" y="224942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중요도 기반 압축 패러다임 완성
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KIVI · ZipCache · KVQuant · TurboQuant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4495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/>
          <p:nvPr/>
        </p:nvSpPr>
        <p:spPr>
          <a:xfrm>
            <a:off x="1051560" y="29626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토큰별 슬롯 + random access
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중요한 정보에 메모리를 더 배분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58184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9"/>
          <p:cNvSpPr/>
          <p:nvPr/>
        </p:nvSpPr>
        <p:spPr>
          <a:xfrm>
            <a:off x="1051560" y="367588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성숙한 프론티어
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덜 중요한 건 줄이거나 버림 (KV-Cache 압축)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931920" cy="2788920"/>
          </a:xfrm>
          <a:prstGeom prst="roundRect">
            <a:avLst>
              <a:gd name="adj" fmla="val 1967"/>
            </a:avLst>
          </a:prstGeom>
          <a:solidFill>
            <a:srgbClr val="FEF2F2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 (칸이 없음)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2331720"/>
            <a:ext cx="128016" cy="128016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 13"/>
          <p:cNvSpPr/>
          <p:nvPr/>
        </p:nvSpPr>
        <p:spPr>
          <a:xfrm>
            <a:off x="5166360" y="224942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슬롯이 없다
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정보가 메모리 하나에 겹쳐서 저장됨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3044952"/>
            <a:ext cx="128016" cy="128016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 15"/>
          <p:cNvSpPr/>
          <p:nvPr/>
        </p:nvSpPr>
        <p:spPr>
          <a:xfrm>
            <a:off x="5166360" y="29626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정책 = recency decay
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오래된 정보가 자동으로 빠르게 사라짐 (최신 위주)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3758184"/>
            <a:ext cx="128016" cy="128016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9" name="Text 17"/>
          <p:cNvSpPr/>
          <p:nvPr/>
        </p:nvSpPr>
        <p:spPr>
          <a:xfrm>
            <a:off x="5166360" y="367588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importance-tiered retention = 공백
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정보만 골라 줄이는 게 불가능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325855F-928C-0B32-DA8B-DCF389D97C58}"/>
              </a:ext>
            </a:extLst>
          </p:cNvPr>
          <p:cNvSpPr/>
          <p:nvPr/>
        </p:nvSpPr>
        <p:spPr>
          <a:xfrm>
            <a:off x="640080" y="1551612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토큰별 슬롯이 </a:t>
            </a:r>
            <a:r>
              <a:rPr lang="en-US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없는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Mamba</a:t>
            </a:r>
            <a:r>
              <a:rPr lang="ko-KR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에서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아키텍처를 고치지 않고 중요도 기반 용량 배분을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달성할 것인가?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연구 · TARGET 논문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</a:t>
            </a: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892808" cy="2651760"/>
          </a:xfrm>
          <a:prstGeom prst="roundRect">
            <a:avLst>
              <a:gd name="adj" fmla="val 2899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KV-캐시 압축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297180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KIVI, ZipCache, KVQuant,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TurboQuant (ICLR’26)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3822192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기반 중요도 비트 배분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737360"/>
            <a:ext cx="1892808" cy="2651760"/>
          </a:xfrm>
          <a:prstGeom prst="roundRect">
            <a:avLst>
              <a:gd name="adj" fmla="val 2899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1" name="Shape 9"/>
          <p:cNvSpPr/>
          <p:nvPr/>
        </p:nvSpPr>
        <p:spPr>
          <a:xfrm>
            <a:off x="2788920" y="192024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10"/>
          <p:cNvSpPr/>
          <p:nvPr/>
        </p:nvSpPr>
        <p:spPr>
          <a:xfrm>
            <a:off x="27889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70632" y="233172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SSM 용량 한계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70632" y="297180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Jelassi+ ‘Repeat After Me’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(ICML’24), Primacy/Recency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70632" y="3822192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 상태의 copy/recall 바운드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1892808" cy="2651760"/>
          </a:xfrm>
          <a:prstGeom prst="roundRect">
            <a:avLst>
              <a:gd name="adj" fmla="val 2899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7" name="Shape 15"/>
          <p:cNvSpPr/>
          <p:nvPr/>
        </p:nvSpPr>
        <p:spPr>
          <a:xfrm>
            <a:off x="4846320" y="192024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8" name="Text 16"/>
          <p:cNvSpPr/>
          <p:nvPr/>
        </p:nvSpPr>
        <p:spPr>
          <a:xfrm>
            <a:off x="48463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28032" y="233172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SSM recall 개선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28032" y="297180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Zoology / MQAR, Based,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Read Twice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28032" y="3822192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실험의 직접 비교 대상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1737360"/>
            <a:ext cx="1892808" cy="2651760"/>
          </a:xfrm>
          <a:prstGeom prst="roundRect">
            <a:avLst>
              <a:gd name="adj" fmla="val 2899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3" name="Shape 21"/>
          <p:cNvSpPr/>
          <p:nvPr/>
        </p:nvSpPr>
        <p:spPr>
          <a:xfrm>
            <a:off x="6903720" y="192024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4" name="Text 22"/>
          <p:cNvSpPr/>
          <p:nvPr/>
        </p:nvSpPr>
        <p:spPr>
          <a:xfrm>
            <a:off x="69037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85432" y="233172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‘무엇을 기억할까’ 연구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85432" y="297180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Titans, DeltaNet, TTT,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Mamba-2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85432" y="3822192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대부분 베이스를 학습·재설계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확보 · 전처리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압박을 </a:t>
            </a:r>
            <a:r>
              <a:rPr lang="en-US" sz="3000" b="1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만드는</a:t>
            </a: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MQAR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14800" cy="2743200"/>
          </a:xfrm>
          <a:prstGeom prst="roundRect">
            <a:avLst>
              <a:gd name="adj" fmla="val 2000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Multi-Query Associative Recall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362819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5"/>
          <p:cNvSpPr/>
          <p:nvPr/>
        </p:nvSpPr>
        <p:spPr>
          <a:xfrm>
            <a:off x="1005840" y="22585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무작위 </a:t>
            </a:r>
            <a:r>
              <a:rPr lang="en-US" sz="1250" b="1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단어로</a:t>
            </a: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Key-Value </a:t>
            </a:r>
            <a:r>
              <a:rPr lang="en-US" sz="1250" b="1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</a:t>
            </a: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b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10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상식으로</a:t>
            </a: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찍는 것 방지 (단어 4,000개)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27706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N개 쌍 → Query Key → Value </a:t>
            </a:r>
            <a:r>
              <a:rPr lang="en-US" sz="1250" b="1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</a:t>
            </a: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b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10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N을</a:t>
            </a: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키우면 메모리가 포화됨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461909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328269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전처리: 1토큰=1위치 </a:t>
            </a:r>
            <a:r>
              <a:rPr lang="en-US" sz="1250" b="1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정렬</a:t>
            </a: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b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10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조작할</a:t>
            </a: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위치를 정확히 지정하기 위함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37947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부하 그리드 N=2…64  </a:t>
            </a:r>
            <a:b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10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정답률</a:t>
            </a: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약 0.5인 N=32를 기준점으로 선택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46320" y="1691640"/>
            <a:ext cx="3749040" cy="2743200"/>
          </a:xfrm>
          <a:prstGeom prst="roundRect">
            <a:avLst>
              <a:gd name="adj" fmla="val 2000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 13"/>
          <p:cNvSpPr/>
          <p:nvPr/>
        </p:nvSpPr>
        <p:spPr>
          <a:xfrm>
            <a:off x="507492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recall vs N (790m)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937760" y="2148840"/>
          <a:ext cx="35661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 err="1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</a:t>
            </a:r>
            <a:r>
              <a:rPr lang="en-US" sz="11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PCR: 재학습 없이 </a:t>
            </a:r>
            <a:r>
              <a:rPr lang="en-US" sz="3000" b="1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보존</a:t>
            </a: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변경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 err="1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게이트</a:t>
            </a: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정보가 살아남는 정도는 그 뒤에 오는 토큰들의 감쇠가 결정한다. 기억하고 싶은 정보 뒤쪽의 Δ를 줄이면 감쇠가 느려져 그 정보가 오래 남는다. 모델은 전혀 안 바꾸고, 추론할 때만 조작한다.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00B050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3090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추론 때 Δ 직접 조작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456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ore-KR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</a:t>
            </a:r>
            <a:r>
              <a:rPr lang="en-US" altLang="ko-Kore-KR" sz="11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hook으로</a:t>
            </a:r>
            <a:r>
              <a:rPr lang="en-US" altLang="ko-Kore-KR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ore-KR" sz="11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보존</a:t>
            </a:r>
            <a:r>
              <a:rPr lang="ko-KR" alt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(수동 조작)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291840" y="246888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8"/>
          <p:cNvSpPr/>
          <p:nvPr/>
        </p:nvSpPr>
        <p:spPr>
          <a:xfrm>
            <a:off x="347472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3090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기반 자동화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74720" y="3456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질문을 보고 무엇을 남길지 스스로 판단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46888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/>
          <p:cNvSpPr/>
          <p:nvPr/>
        </p:nvSpPr>
        <p:spPr>
          <a:xfrm>
            <a:off x="621792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17920" y="3090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회로 자동 탐색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17920" y="3456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층을 조작할지 모델이 학습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</a:t>
            </a:r>
            <a:r>
              <a:rPr lang="en-US" sz="1150" b="1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방법인가</a:t>
            </a:r>
            <a:r>
              <a:rPr lang="en-US" sz="11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</a:t>
            </a: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새로 설계하는 다른 연구와 달리, 이미 학습된 모델을 그대로 쓰면서 재학습 없이 활용하는 </a:t>
            </a:r>
            <a:r>
              <a:rPr lang="en-US" sz="115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</a:t>
            </a:r>
            <a:r>
              <a:rPr lang="en-US" altLang="ko-KR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방식이다. 비용이 거의 안 든다.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 err="1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r>
              <a:rPr lang="en-US" sz="11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 · 제어 가능성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Δ를</a:t>
            </a: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줄</a:t>
            </a:r>
            <a:r>
              <a:rPr lang="ko-KR" alt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</a:t>
            </a: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recall </a:t>
            </a:r>
            <a:r>
              <a:rPr lang="en-US" sz="3000" b="1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60520" cy="2743200"/>
          </a:xfrm>
          <a:prstGeom prst="roundRect">
            <a:avLst>
              <a:gd name="adj" fmla="val 2000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Dose–response (N=32, all layers)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2148840"/>
          <a:ext cx="39776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892040" y="1691640"/>
            <a:ext cx="3703320" cy="2743200"/>
          </a:xfrm>
          <a:prstGeom prst="roundRect">
            <a:avLst>
              <a:gd name="adj" fmla="val 2000"/>
            </a:avLst>
          </a:prstGeom>
          <a:solidFill>
            <a:srgbClr val="ECFD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8" name="Text 5"/>
          <p:cNvSpPr/>
          <p:nvPr/>
        </p:nvSpPr>
        <p:spPr>
          <a:xfrm>
            <a:off x="512064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가지 통제 확인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166360" y="2377440"/>
            <a:ext cx="100584" cy="100584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7"/>
          <p:cNvSpPr/>
          <p:nvPr/>
        </p:nvSpPr>
        <p:spPr>
          <a:xfrm>
            <a:off x="5376672" y="2286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조절량  </a:t>
            </a:r>
            <a:r>
              <a:rPr lang="en-US" sz="11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0.8에서 0.53→0.73로 최고, </a:t>
            </a:r>
            <a:br>
              <a:rPr lang="en-US" sz="11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150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</a:t>
            </a:r>
            <a:r>
              <a:rPr lang="en-US" sz="11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줄이면(0.6 이하) 오히려 붕괴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166360" y="3035808"/>
            <a:ext cx="100584" cy="100584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9"/>
          <p:cNvSpPr/>
          <p:nvPr/>
        </p:nvSpPr>
        <p:spPr>
          <a:xfrm>
            <a:off x="5376672" y="294436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특정성  </a:t>
            </a:r>
            <a:r>
              <a:rPr lang="en-US" sz="11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타깃 뒤를 조작하면 0.73, </a:t>
            </a:r>
            <a:br>
              <a:rPr lang="en-US" sz="11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150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아무</a:t>
            </a:r>
            <a:r>
              <a:rPr lang="en-US" sz="11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위치나 조작하면 0.50 (위치가 중요)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166360" y="3694176"/>
            <a:ext cx="100584" cy="100584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1"/>
          <p:cNvSpPr/>
          <p:nvPr/>
        </p:nvSpPr>
        <p:spPr>
          <a:xfrm>
            <a:off x="5376672" y="3602736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방향성  </a:t>
            </a:r>
            <a:r>
              <a:rPr lang="en-US" sz="11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반대로 Δ를 키우면 오히려 나빠짐 → 진짜 인과관계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 err="1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r>
              <a:rPr lang="en-US" sz="11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II · 핵심 발견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L16~23: 적은 비용으로 기억을 되살리는 회로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434840" cy="2743200"/>
          </a:xfrm>
          <a:prstGeom prst="roundRect">
            <a:avLst>
              <a:gd name="adj" fmla="val 2000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그룹별 정답률 상승폭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2148840"/>
          <a:ext cx="42519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166360" y="1691640"/>
            <a:ext cx="3429000" cy="1298448"/>
          </a:xfrm>
          <a:prstGeom prst="roundRect">
            <a:avLst>
              <a:gd name="adj" fmla="val 4225"/>
            </a:avLst>
          </a:prstGeom>
          <a:solidFill>
            <a:srgbClr val="0E0E10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8" name="Text 5"/>
          <p:cNvSpPr/>
          <p:nvPr/>
        </p:nvSpPr>
        <p:spPr>
          <a:xfrm>
            <a:off x="534924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16~23층만 조작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4924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0.67</a:t>
            </a: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ppl ×1.07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166360" y="3154680"/>
            <a:ext cx="3429000" cy="1298448"/>
          </a:xfrm>
          <a:prstGeom prst="roundRect">
            <a:avLst>
              <a:gd name="adj" fmla="val 4225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8"/>
          <p:cNvSpPr/>
          <p:nvPr/>
        </p:nvSpPr>
        <p:spPr>
          <a:xfrm>
            <a:off x="534924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층 조작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49240" y="3657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0.73</a:t>
            </a:r>
            <a:r>
              <a:rPr lang="en-US" sz="22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ppl ×1.81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48층 중 8층만으로 거의 같은 효과 + 부작용(ppl) 거의 없음 → 기억 전담 ‘회로’가 따로 있다는 증거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EF2F2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1792224"/>
            <a:ext cx="274320" cy="27432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792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모델   </a:t>
            </a:r>
            <a:r>
              <a:rPr lang="en-US" sz="13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큰 1.4b 모델에선 재현 안 됨 → </a:t>
            </a:r>
            <a:r>
              <a:rPr lang="ko-KR" altLang="en-US" sz="13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실험은</a:t>
            </a:r>
            <a:r>
              <a:rPr lang="en-US" sz="13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790m에만 </a:t>
            </a:r>
            <a:r>
              <a:rPr lang="en-US" sz="1300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EF2F2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9" name="Shape 7"/>
          <p:cNvSpPr/>
          <p:nvPr/>
        </p:nvSpPr>
        <p:spPr>
          <a:xfrm>
            <a:off x="777240" y="2660904"/>
            <a:ext cx="274320" cy="27432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51460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  </a:t>
            </a:r>
            <a:r>
              <a:rPr lang="en-US" sz="13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사실을 묻는 실제 문장에선 불안정, 오히려 성능이 떨어질 </a:t>
            </a:r>
            <a:r>
              <a:rPr lang="en-US" sz="1300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r>
              <a:rPr lang="en-US" sz="13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EF2F2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3" name="Shape 11"/>
          <p:cNvSpPr/>
          <p:nvPr/>
        </p:nvSpPr>
        <p:spPr>
          <a:xfrm>
            <a:off x="777240" y="3529584"/>
            <a:ext cx="274320" cy="27432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/>
          <p:cNvSpPr/>
          <p:nvPr/>
        </p:nvSpPr>
        <p:spPr>
          <a:xfrm>
            <a:off x="77724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3832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양자화 시도   </a:t>
            </a:r>
            <a:r>
              <a:rPr lang="en-US" sz="13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정보만 적은 비트로 줄이려 </a:t>
            </a:r>
            <a:r>
              <a:rPr lang="en-US" sz="1300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하면</a:t>
            </a:r>
            <a:r>
              <a:rPr lang="en-US" sz="13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정답률</a:t>
            </a:r>
            <a:r>
              <a:rPr lang="en-US" sz="13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2153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 한계가 오히려 우리 주장을 뒷받침한다.  </a:t>
            </a:r>
            <a:b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15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중요도에</a:t>
            </a: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따른 차등 보존은 게이트 조절로는 되지만, 비트 줄이기로는 안 된다 — 칸 없는 </a:t>
            </a:r>
            <a:r>
              <a:rPr lang="en-US" sz="115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메모리의</a:t>
            </a: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특성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연구 계획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7480" y="16733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(게이트)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166360" y="167335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메모리가 실제로 꽉 찼는지 측정 → 저장 문제인지 제어 </a:t>
            </a:r>
            <a:r>
              <a:rPr lang="en-US" sz="105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문제인지</a:t>
            </a: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0E0E10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4048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3865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Question-conditioned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auto-localizing 컨트롤러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66360" y="23865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모델은 그대로 두고 작은 컨트롤러만 학습 → 사람 개입 </a:t>
            </a:r>
            <a:r>
              <a:rPr lang="en-US" sz="105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없이</a:t>
            </a: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36392"/>
            <a:ext cx="457200" cy="457200"/>
          </a:xfrm>
          <a:prstGeom prst="ellipse">
            <a:avLst/>
          </a:prstGeom>
          <a:solidFill>
            <a:srgbClr val="0E0E10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311810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30998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+ Belady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66360" y="30998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질문이 계속 들어오는 상황에서 최적 보존 대비 </a:t>
            </a:r>
            <a:r>
              <a:rPr lang="en-US" sz="105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효율</a:t>
            </a: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0E0E10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383133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97480" y="3813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 정리·논문화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66360" y="38130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압축과 Mamba 보존을 하나의 </a:t>
            </a:r>
            <a:r>
              <a:rPr lang="en-US" sz="105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원리로</a:t>
            </a: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Mamba의 기억은 고정된 천장이 아니라,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중간층이 담당하는, 우리가 ‘조절할 수 있는’ 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능력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28803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2788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16~23층 회로  —  </a:t>
            </a: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재학습 없이 적은 </a:t>
            </a:r>
            <a:r>
              <a:rPr lang="en-US" sz="1300" dirty="0" err="1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비용으로</a:t>
            </a: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Mamba capacity </a:t>
            </a:r>
            <a:r>
              <a:rPr lang="ko-KR" alt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향상</a:t>
            </a: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(ppl ×1.07)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33375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Control-limited</a:t>
            </a:r>
            <a:r>
              <a:rPr lang="ko-KR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구간 입증 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</a:t>
            </a:r>
            <a:r>
              <a:rPr lang="ko-KR" alt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문제와 제어 문제를 측정으로 구분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37947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낮은 부작용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r>
              <a:rPr lang="ko-KR" alt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국소 조작이라 언어 모델 품질 유지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· 메커니즘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</a:t>
            </a:r>
            <a:r>
              <a:rPr lang="en-US" sz="1500" b="1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갱신</a:t>
            </a: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surviving contribution:  </a:t>
            </a:r>
            <a:r>
              <a:rPr lang="ko-KR" alt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ko-KR" altLang="en-US" sz="15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</a:t>
            </a:r>
            <a:r>
              <a:rPr lang="en-US" sz="15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token i가 질의 시점까지 살아남는 양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62376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b="1" dirty="0" err="1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</a:t>
            </a: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en-US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Δ&gt;0 ⇒ Ā&lt;1 이라 decay가 공유됨 → 항목별 독립 비트 배분 불가 (recency 편향은 구조 </a:t>
            </a:r>
            <a:r>
              <a:rPr lang="en-US" sz="1400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</a:t>
            </a:r>
            <a:r>
              <a:rPr lang="en-US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ko-KR" altLang="en-US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ore-KR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</a:t>
            </a:r>
            <a:r>
              <a:rPr lang="en-US" sz="1400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FF66CE9-0934-42A1-A32F-D5E248A7B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346" y="1605280"/>
            <a:ext cx="4229100" cy="5207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5B8A3A0-0D84-3971-5CC1-3ABBD12A9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2212" y="2319021"/>
            <a:ext cx="11557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· 핵심 </a:t>
            </a:r>
            <a:r>
              <a:rPr lang="en-US" sz="2600" b="1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수치</a:t>
            </a: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(Mamba-790m)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736218"/>
              </p:ext>
            </p:extLst>
          </p:nvPr>
        </p:nvGraphicFramePr>
        <p:xfrm>
          <a:off x="548640" y="1645920"/>
          <a:ext cx="8046720" cy="268833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recall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N=32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Dose–response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og=0.8 (all layers)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 → 0.73 (정점)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downstream vs random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 vs 0.50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L16–23 / L24–31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+0.13 / +0.07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Surgical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L16–23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0.67 · ppl ×1.07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전층 비교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layers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0.73 · ppl ×1.81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· Negative results 상세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76479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Cross-model (1.4b)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71800" y="1746504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N=32 base 0.54에서 </a:t>
            </a:r>
            <a:r>
              <a:rPr lang="ko-KR" alt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</a:t>
            </a: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Layer </a:t>
            </a:r>
            <a:r>
              <a:rPr lang="en-US" sz="1080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</a:t>
            </a: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Δ≤0 → 회로 비재현. 790m은 base 0.65서도 +0.32.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전이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71800" y="2496312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single-needle은 base 1.0(압박 無) </a:t>
            </a:r>
            <a:r>
              <a:rPr lang="en-US" sz="1080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무의미</a:t>
            </a:r>
            <a:b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</a:t>
            </a:r>
            <a:r>
              <a:rPr lang="en-US" sz="1080" dirty="0" err="1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fact는</a:t>
            </a: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L16-23 개입이 -0.07~-0.40. computation-bound는 해침.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326440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레버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71800" y="324612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A(target k-bit): 8b 0.53→4b 0.03 절벽. </a:t>
            </a:r>
            <a:b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B(저우선 k-bit): 4b에서 target 0.00 붕괴 = 재배분 아닌 오염.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0142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P1/P2/P3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71800" y="39959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단조로 보였으나 질의 위치와 교란 → 주장 불가, position-control 재실험 필요.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· Baselines · 평가지표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76479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Mamba(통제) · Just Read Twice(프롬프팅 recall) · global-Δ · position/param-matched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47802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40487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optimal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Belady-MIN (가장 늦게 쓰일 항목부터 eviction)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19125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311810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Efficiency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Recall_model / Recall_Belady — gap을 (정책 최적성)+(연속-state 구현) 2단 분해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90448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383133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shuffled-tag null · K 커리큘럼 · 시드 ≥3 + 에러바 · ppl guardrail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· 재현성 · 환경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746504"/>
            <a:ext cx="100584" cy="100584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54533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 —  </a:t>
            </a: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state-spaces/mamba-790m-hf (48 layers, fp32)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350008"/>
            <a:ext cx="100584" cy="100584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 —  </a:t>
            </a: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T4. mamba-ssm/causal-conv1d 미설치 → slow path 강제(Δ 훅 가능)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953512"/>
            <a:ext cx="100584" cy="100584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75234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 —  </a:t>
            </a: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PCR_from_scratch.ipynb (로드→훅→Gate1→국소화→surgical→write-order→graded→quant)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557016"/>
            <a:ext cx="100584" cy="100584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33558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 —  </a:t>
            </a: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pcr_stage0_probe.py (state effective-rank vs 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496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PCR · SKKU AI Systems 2026-1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1695</Words>
  <Application>Microsoft Macintosh PowerPoint</Application>
  <PresentationFormat>화면 슬라이드 쇼(16:9)</PresentationFormat>
  <Paragraphs>234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Priority-Conditioned Retention (PCR)</dc:title>
  <dc:subject>PptxGenJS Presentation</dc:subject>
  <dc:creator>안예준 · 정찬희 · 김수윤</dc:creator>
  <cp:lastModifiedBy>정찬희</cp:lastModifiedBy>
  <cp:revision>8</cp:revision>
  <dcterms:created xsi:type="dcterms:W3CDTF">2026-06-17T08:46:14Z</dcterms:created>
  <dcterms:modified xsi:type="dcterms:W3CDTF">2026-06-17T16:28:10Z</dcterms:modified>
</cp:coreProperties>
</file>